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" name="Shape 2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Session goal: build a privacy-first identity wallet that goes beyond baseline compliance.</a:t>
            </a:r>
          </a:p>
          <a:p>
            <a:pPr/>
            <a:r>
              <a:t>Key defenses: correlation, phishing, revocation beacons, telemetry leakage (see LEARNING_LAB.md).</a:t>
            </a:r>
          </a:p>
          <a:p>
            <a:pPr/>
            <a:r>
              <a:t>Roadmap: SD-JWT issuance, BBS+ unlinkable proofs, OHTTP network privacy, iProov liveness, Bitstring Status List revocation, aggregate telemetry.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" name="Shape 4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Walk the end-to-end flow: wallet ↔ issuer (OIDC4VCI), wallet ↔ verifier (OIDC4VP), OHTTP relay in the middle.</a:t>
            </a:r>
          </a:p>
          <a:p>
            <a:pPr/>
            <a:r>
              <a:t>Components shown: iProov liveness gate, Bitstring Status List via CDN, DivviUp/DAP telemetry.</a:t>
            </a:r>
          </a:p>
          <a:p>
            <a:pPr/>
            <a:r>
              <a:t>Callout: Digital Credentials API support varies; keep a fallback path (DEMO.md).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7" name="Shape 5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Wallet is an EUDI fork with feature flags for BBS+, OHTTP, and iProov (wallet-ios/).</a:t>
            </a:r>
          </a:p>
          <a:p>
            <a:pPr/>
            <a:r>
              <a:t>User consents, runs iProov liveness, then wallet sends OIDC4VCI/VP requests encrypted via OHTTP.</a:t>
            </a:r>
          </a:p>
          <a:p>
            <a:pPr/>
            <a:r>
              <a:t>Device-bound keys and minimal data retention; store only iProov outcome/reference (DEMO.md).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2" name="Shape 7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OIDC4VCI pipeline: credential offer → token (c_nonce + DPoP) → credential (SD-JWT or DI+BBS+).</a:t>
            </a:r>
          </a:p>
          <a:p>
            <a:pPr/>
            <a:r>
              <a:t>Publish issuer metadata, JWKS, and BBS public key; embed credentialStatus with Bitstring Status List entry.</a:t>
            </a:r>
          </a:p>
          <a:p>
            <a:pPr/>
            <a:r>
              <a:t>Revoke endpoint flips a bit; status list served at /statuslist/:id.json (README.md / DEMO.md).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7" name="Shape 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Verifier flow: OIDC4VP request + Digital Credentials API, then verify SD-JWT signature or BBS+ proof.</a:t>
            </a:r>
          </a:p>
          <a:p>
            <a:pPr/>
            <a:r>
              <a:t>Fetch issuer keys and status list; fail if revoked (credential_revoked).</a:t>
            </a:r>
          </a:p>
          <a:p>
            <a:pPr/>
            <a:r>
              <a:t>Phishing resistance via nonce/aud binding, DPoP, optional WebAuthn (DEMO.md).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OHTTP path: client encrypts to relay → gateway → origin; origin never sees client IP (RFC 9458).</a:t>
            </a:r>
          </a:p>
          <a:p>
            <a:pPr/>
            <a:r>
              <a:t>Use Cloudflare Privacy Gateway (preferred) or Fastly relay; toggle with USE_OHTTP env.</a:t>
            </a:r>
          </a:p>
          <a:p>
            <a:pPr/>
            <a:r>
              <a:t>Apply to issuer, verifier, and status list fetches to avoid correlation (LEARNING_LAB.md).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iProov gate: wallet calls /iproov/claim, gets token, runs SDK; server receives webhook.</a:t>
            </a:r>
          </a:p>
          <a:p>
            <a:pPr/>
            <a:r>
              <a:t>Only release attributes when signals.matching.passed = true; gate issuance/presentation.</a:t>
            </a:r>
          </a:p>
          <a:p>
            <a:pPr/>
            <a:r>
              <a:t>No biometrics stored—keep only success boolean + audit reference (DEMO.md).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2" name="Shape 1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Bitstring Status List: base64 bitstring; credentialStatus carries list URL + index.</a:t>
            </a:r>
          </a:p>
          <a:p>
            <a:pPr/>
            <a:r>
              <a:t>Verifier fetches list (cache/TTL) via OHTTP; bit=0 accept, bit=1 reject.</a:t>
            </a:r>
          </a:p>
          <a:p>
            <a:pPr/>
            <a:r>
              <a:t>Admin revoke flips bit; avoids per-holder calls (LEARNING_LAB.md).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1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7" name="Shape 1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BBS+ helper (bbs-lib): issuer signs ordered messages; holder derives unlinkable proof.</a:t>
            </a:r>
          </a:p>
          <a:p>
            <a:pPr/>
            <a:r>
              <a:t>Reveal only selected indices (e.g., age_over), bound with nonce to prevent replay.</a:t>
            </a:r>
          </a:p>
          <a:p>
            <a:pPr/>
            <a:r>
              <a:t>Verifier checks proof with public key; small wrapper so lab participants can read the API.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2" name="Shape 1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Telemetry is aggregate-only via DAP/DivviUp: wallet &amp; verifier send encrypted counters.</a:t>
            </a:r>
          </a:p>
          <a:p>
            <a:pPr/>
            <a:r>
              <a:t>No raw per-user events; examples: presentations_succeeded, iproov_retry_count.</a:t>
            </a:r>
          </a:p>
          <a:p>
            <a:pPr/>
            <a:r>
              <a:t>Optional module; verifier exposes /debug/telemetry in dev (README.md).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Shape 1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Bind presentations to verifier origin: nonce + aud, DPoP sender-constrained tokens.</a:t>
            </a:r>
          </a:p>
          <a:p>
            <a:pPr/>
            <a:r>
              <a:t>Optional WebAuthn step-up at verifier origin for phishing-resistant binding.</a:t>
            </a:r>
          </a:p>
          <a:p>
            <a:pPr/>
            <a:r>
              <a:t>Goal: stop replay and credential phishing across origins (DEMO.md).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1" name="Shape 2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Lab progression: Lab 01 SD-JWT issuance, Lab 02 BBS+, Lab 03 OHTTP, Lab 04 iProov, Lab 05 Status List.</a:t>
            </a:r>
          </a:p>
          <a:p>
            <a:pPr/>
            <a:r>
              <a:t>Timing: 10–30, 30–55, 55–75, 75–95, 95–115 minutes (OUTLINE2.md).</a:t>
            </a:r>
          </a:p>
          <a:p>
            <a:pPr/>
            <a:r>
              <a:t>Each lab has a branch + README with pass criteria; wrap-up checklist at end (LEARNING_LAB.md).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777239" y="1844789"/>
            <a:ext cx="10637216" cy="790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5400">
                <a:solidFill>
                  <a:srgbClr val="FFFFFF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Beyond Compliance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795527" y="2870552"/>
            <a:ext cx="10600640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200">
                <a:solidFill>
                  <a:srgbClr val="E5E7EB"/>
                </a:solidFill>
              </a:defRPr>
            </a:lvl1pPr>
          </a:lstStyle>
          <a:p>
            <a:pPr/>
            <a:r>
              <a:t>Build a Privacy‑First Identity Wallet — Architecture Walkthrough</a:t>
            </a:r>
          </a:p>
        </p:txBody>
      </p:sp>
      <p:sp>
        <p:nvSpPr>
          <p:cNvPr id="24" name="Shape 4"/>
          <p:cNvSpPr/>
          <p:nvPr/>
        </p:nvSpPr>
        <p:spPr>
          <a:xfrm>
            <a:off x="731519" y="3794759"/>
            <a:ext cx="5852162" cy="1737361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  <a:effectLst>
            <a:outerShdw sx="100000" sy="100000" kx="0" ky="0" algn="b" rotWithShape="0" blurRad="76200" dist="25400" dir="27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1005839" y="3911680"/>
            <a:ext cx="53949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What you’ll build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1005839" y="4224528"/>
            <a:ext cx="5394961" cy="1316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28600" indent="-228600">
              <a:buSzPct val="100000"/>
              <a:buChar char="•"/>
              <a:defRPr sz="1600">
                <a:solidFill>
                  <a:srgbClr val="E5E7EB"/>
                </a:solidFill>
              </a:defRPr>
            </a:pPr>
            <a:r>
              <a:t>OIDC4VCI issuance (SD‑JWT)</a:t>
            </a:r>
          </a:p>
          <a:p>
            <a:pPr marL="228600" indent="-228600">
              <a:buSzPct val="100000"/>
              <a:buChar char="•"/>
              <a:defRPr sz="1600">
                <a:solidFill>
                  <a:srgbClr val="E5E7EB"/>
                </a:solidFill>
              </a:defRPr>
            </a:pPr>
            <a:r>
              <a:t>Unlinkable selective disclosure (BBS+)</a:t>
            </a:r>
          </a:p>
          <a:p>
            <a:pPr marL="228600" indent="-228600">
              <a:buSzPct val="100000"/>
              <a:buChar char="•"/>
              <a:defRPr sz="1600">
                <a:solidFill>
                  <a:srgbClr val="E5E7EB"/>
                </a:solidFill>
              </a:defRPr>
            </a:pPr>
            <a:r>
              <a:t>OHTTP network privacy</a:t>
            </a:r>
          </a:p>
          <a:p>
            <a:pPr marL="228600" indent="-228600">
              <a:buSzPct val="100000"/>
              <a:buChar char="•"/>
              <a:defRPr sz="1600">
                <a:solidFill>
                  <a:srgbClr val="E5E7EB"/>
                </a:solidFill>
              </a:defRPr>
            </a:pPr>
            <a:r>
              <a:t>iProov liveness gating</a:t>
            </a:r>
          </a:p>
          <a:p>
            <a:pPr marL="228600" indent="-228600">
              <a:buSzPct val="100000"/>
              <a:buChar char="•"/>
              <a:defRPr sz="1600">
                <a:solidFill>
                  <a:srgbClr val="E5E7EB"/>
                </a:solidFill>
              </a:defRPr>
            </a:pPr>
            <a:r>
              <a:t>Bitstring status list revocation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777239" y="6283260"/>
            <a:ext cx="10637216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400">
                <a:solidFill>
                  <a:srgbClr val="CBD5E1"/>
                </a:solidFill>
              </a:defRPr>
            </a:lvl1pPr>
          </a:lstStyle>
          <a:p>
            <a:pPr/>
            <a:r>
              <a:t>RSA Conference • Learning Lab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/>
          <p:cNvSpPr/>
          <p:nvPr/>
        </p:nvSpPr>
        <p:spPr>
          <a:xfrm>
            <a:off x="-1" y="0"/>
            <a:ext cx="12191697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1"/>
          <p:cNvSpPr txBox="1"/>
          <p:nvPr/>
        </p:nvSpPr>
        <p:spPr>
          <a:xfrm>
            <a:off x="594359" y="64632"/>
            <a:ext cx="11002976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0B122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End-to-end architecture</a:t>
            </a:r>
          </a:p>
        </p:txBody>
      </p:sp>
      <p:sp>
        <p:nvSpPr>
          <p:cNvPr id="33" name="Text 2"/>
          <p:cNvSpPr txBox="1"/>
          <p:nvPr/>
        </p:nvSpPr>
        <p:spPr>
          <a:xfrm>
            <a:off x="594359" y="442399"/>
            <a:ext cx="11002976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4B5563"/>
                </a:solidFill>
              </a:defRPr>
            </a:lvl1pPr>
          </a:lstStyle>
          <a:p>
            <a:pPr/>
            <a:r>
              <a:t>Issuer + wallet + verifier, with privacy and security guardrails.</a:t>
            </a:r>
          </a:p>
        </p:txBody>
      </p:sp>
      <p:sp>
        <p:nvSpPr>
          <p:cNvPr id="34" name="Shape 3"/>
          <p:cNvSpPr/>
          <p:nvPr/>
        </p:nvSpPr>
        <p:spPr>
          <a:xfrm>
            <a:off x="-1" y="694944"/>
            <a:ext cx="12191697" cy="1828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Shape 4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Text 5"/>
          <p:cNvSpPr txBox="1"/>
          <p:nvPr/>
        </p:nvSpPr>
        <p:spPr>
          <a:xfrm>
            <a:off x="594359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Beyond Compliance — Privacy-First Identity Wallet</a:t>
            </a:r>
          </a:p>
        </p:txBody>
      </p:sp>
      <p:sp>
        <p:nvSpPr>
          <p:cNvPr id="37" name="Text 6"/>
          <p:cNvSpPr txBox="1"/>
          <p:nvPr/>
        </p:nvSpPr>
        <p:spPr>
          <a:xfrm>
            <a:off x="6278727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RSA Conference • Learning Lab</a:t>
            </a:r>
          </a:p>
        </p:txBody>
      </p:sp>
      <p:sp>
        <p:nvSpPr>
          <p:cNvPr id="38" name="Shape 7"/>
          <p:cNvSpPr/>
          <p:nvPr/>
        </p:nvSpPr>
        <p:spPr>
          <a:xfrm>
            <a:off x="548640" y="960119"/>
            <a:ext cx="11515153" cy="329185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8"/>
          <p:cNvSpPr txBox="1"/>
          <p:nvPr/>
        </p:nvSpPr>
        <p:spPr>
          <a:xfrm>
            <a:off x="740664" y="1009703"/>
            <a:ext cx="528523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D4ED8"/>
                </a:solidFill>
              </a:defRPr>
            </a:lvl1pPr>
          </a:lstStyle>
          <a:p>
            <a:pPr/>
            <a:r>
              <a:t>Key flows</a:t>
            </a:r>
          </a:p>
        </p:txBody>
      </p:sp>
      <p:sp>
        <p:nvSpPr>
          <p:cNvPr id="40" name="Text 9"/>
          <p:cNvSpPr txBox="1"/>
          <p:nvPr/>
        </p:nvSpPr>
        <p:spPr>
          <a:xfrm>
            <a:off x="594360" y="1417319"/>
            <a:ext cx="11527852" cy="290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Issuance: OIDC4VCI offer → token (c_nonce) → credential (SD‑JWT or DI+BBS+).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Presentation: OIDC4VP (web) via Digital Credentials API where available.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Network privacy: OHTTP relay prevents origins from seeing client IPs.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Revocation: Bitstring Status List checks avoid per‑holder beacons.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Liveness: iProov gating before issuing or presenting sensitive attributes.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312884"/>
            <a:ext cx="12192000" cy="42322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-1" y="0"/>
            <a:ext cx="12191697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1"/>
          <p:cNvSpPr txBox="1"/>
          <p:nvPr/>
        </p:nvSpPr>
        <p:spPr>
          <a:xfrm>
            <a:off x="594359" y="64632"/>
            <a:ext cx="11002976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0B122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Component: Mobile wallet (EUDI fork)</a:t>
            </a:r>
          </a:p>
        </p:txBody>
      </p:sp>
      <p:sp>
        <p:nvSpPr>
          <p:cNvPr id="48" name="Text 2"/>
          <p:cNvSpPr txBox="1"/>
          <p:nvPr/>
        </p:nvSpPr>
        <p:spPr>
          <a:xfrm>
            <a:off x="594359" y="442399"/>
            <a:ext cx="11002976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4B5563"/>
                </a:solidFill>
              </a:defRPr>
            </a:lvl1pPr>
          </a:lstStyle>
          <a:p>
            <a:pPr/>
            <a:r>
              <a:t>Holder UX, key material, and protocol client — with optional privacy/security toggles.</a:t>
            </a:r>
          </a:p>
        </p:txBody>
      </p:sp>
      <p:sp>
        <p:nvSpPr>
          <p:cNvPr id="49" name="Shape 3"/>
          <p:cNvSpPr/>
          <p:nvPr/>
        </p:nvSpPr>
        <p:spPr>
          <a:xfrm>
            <a:off x="-1" y="694944"/>
            <a:ext cx="12191697" cy="1828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Shape 4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5"/>
          <p:cNvSpPr txBox="1"/>
          <p:nvPr/>
        </p:nvSpPr>
        <p:spPr>
          <a:xfrm>
            <a:off x="594359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Beyond Compliance — Privacy-First Identity Wallet</a:t>
            </a:r>
          </a:p>
        </p:txBody>
      </p:sp>
      <p:sp>
        <p:nvSpPr>
          <p:cNvPr id="52" name="Text 6"/>
          <p:cNvSpPr txBox="1"/>
          <p:nvPr/>
        </p:nvSpPr>
        <p:spPr>
          <a:xfrm>
            <a:off x="6278727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RSA Conference • Learning Lab</a:t>
            </a:r>
          </a:p>
        </p:txBody>
      </p:sp>
      <p:sp>
        <p:nvSpPr>
          <p:cNvPr id="53" name="Shape 7"/>
          <p:cNvSpPr/>
          <p:nvPr/>
        </p:nvSpPr>
        <p:spPr>
          <a:xfrm>
            <a:off x="548640" y="960119"/>
            <a:ext cx="11434782" cy="329185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8"/>
          <p:cNvSpPr txBox="1"/>
          <p:nvPr/>
        </p:nvSpPr>
        <p:spPr>
          <a:xfrm>
            <a:off x="740664" y="1009703"/>
            <a:ext cx="528523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D4ED8"/>
                </a:solidFill>
              </a:defRPr>
            </a:lvl1pPr>
          </a:lstStyle>
          <a:p>
            <a:pPr/>
            <a:r>
              <a:t>Responsibilities</a:t>
            </a:r>
          </a:p>
        </p:txBody>
      </p:sp>
      <p:sp>
        <p:nvSpPr>
          <p:cNvPr id="55" name="Text 9"/>
          <p:cNvSpPr txBox="1"/>
          <p:nvPr/>
        </p:nvSpPr>
        <p:spPr>
          <a:xfrm>
            <a:off x="594360" y="1399031"/>
            <a:ext cx="11447482" cy="3385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Stores issued credentials and disclosure material (SD‑JWT disclosures, BBS+ messages/proofs).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Uses a device‑bound holder key (Secure Enclave / StrongBox) for proof-of-possession.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Runs iProov liveness before releasing attributes (toggleable).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Routes issuance/presentation/status calls via OHTTP relay (toggleable).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Provides user consent UI for every attribute release.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45142"/>
            <a:ext cx="12192000" cy="43677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-1" y="0"/>
            <a:ext cx="12191697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"/>
          <p:cNvSpPr txBox="1"/>
          <p:nvPr/>
        </p:nvSpPr>
        <p:spPr>
          <a:xfrm>
            <a:off x="594359" y="64632"/>
            <a:ext cx="11002976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0B122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Component: Issuer service (OIDC4VCI)</a:t>
            </a:r>
          </a:p>
        </p:txBody>
      </p:sp>
      <p:sp>
        <p:nvSpPr>
          <p:cNvPr id="63" name="Text 2"/>
          <p:cNvSpPr txBox="1"/>
          <p:nvPr/>
        </p:nvSpPr>
        <p:spPr>
          <a:xfrm>
            <a:off x="594359" y="442399"/>
            <a:ext cx="11002976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4B5563"/>
                </a:solidFill>
              </a:defRPr>
            </a:lvl1pPr>
          </a:lstStyle>
          <a:p>
            <a:pPr/>
            <a:r>
              <a:t>Issues SD‑JWT VCs and DI+BBS+ credentials; publishes keys and status lists.</a:t>
            </a:r>
          </a:p>
        </p:txBody>
      </p:sp>
      <p:sp>
        <p:nvSpPr>
          <p:cNvPr id="64" name="Shape 3"/>
          <p:cNvSpPr/>
          <p:nvPr/>
        </p:nvSpPr>
        <p:spPr>
          <a:xfrm>
            <a:off x="-1" y="694944"/>
            <a:ext cx="12191697" cy="1828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hape 4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5"/>
          <p:cNvSpPr txBox="1"/>
          <p:nvPr/>
        </p:nvSpPr>
        <p:spPr>
          <a:xfrm>
            <a:off x="594359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Beyond Compliance — Privacy-First Identity Wallet</a:t>
            </a:r>
          </a:p>
        </p:txBody>
      </p:sp>
      <p:sp>
        <p:nvSpPr>
          <p:cNvPr id="67" name="Text 6"/>
          <p:cNvSpPr txBox="1"/>
          <p:nvPr/>
        </p:nvSpPr>
        <p:spPr>
          <a:xfrm>
            <a:off x="6278727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RSA Conference • Learning Lab</a:t>
            </a:r>
          </a:p>
        </p:txBody>
      </p:sp>
      <p:sp>
        <p:nvSpPr>
          <p:cNvPr id="68" name="Shape 7"/>
          <p:cNvSpPr/>
          <p:nvPr/>
        </p:nvSpPr>
        <p:spPr>
          <a:xfrm>
            <a:off x="548640" y="960119"/>
            <a:ext cx="11514268" cy="329185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8"/>
          <p:cNvSpPr txBox="1"/>
          <p:nvPr/>
        </p:nvSpPr>
        <p:spPr>
          <a:xfrm>
            <a:off x="740664" y="1009703"/>
            <a:ext cx="528523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D4ED8"/>
                </a:solidFill>
              </a:defRPr>
            </a:lvl1pPr>
          </a:lstStyle>
          <a:p>
            <a:pPr/>
            <a:r>
              <a:t>What it does</a:t>
            </a:r>
          </a:p>
        </p:txBody>
      </p:sp>
      <p:sp>
        <p:nvSpPr>
          <p:cNvPr id="70" name="Text 9"/>
          <p:cNvSpPr txBox="1"/>
          <p:nvPr/>
        </p:nvSpPr>
        <p:spPr>
          <a:xfrm>
            <a:off x="594360" y="1399031"/>
            <a:ext cx="11526967" cy="4350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Publishes issuer metadata and keys (JWKS + BBS public key).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Implements pre‑authorized code offers and token exchange returning c_nonce.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Issues either SD‑JWT VCs (ES256) or DI+BBS+ credentials (unlinkable proofs).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Embeds credentialStatus as a BitstringStatusListEntry and serves /statuslist/:id.json.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Optional admin revocation flips bits; optional iProov gating blocks issuance until passed.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66250"/>
            <a:ext cx="12192000" cy="6525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-1" y="0"/>
            <a:ext cx="12191697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1"/>
          <p:cNvSpPr txBox="1"/>
          <p:nvPr/>
        </p:nvSpPr>
        <p:spPr>
          <a:xfrm>
            <a:off x="594359" y="64632"/>
            <a:ext cx="11002976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0B122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Component: Verifier / relying party (OIDC4VP)</a:t>
            </a:r>
          </a:p>
        </p:txBody>
      </p:sp>
      <p:sp>
        <p:nvSpPr>
          <p:cNvPr id="78" name="Text 2"/>
          <p:cNvSpPr txBox="1"/>
          <p:nvPr/>
        </p:nvSpPr>
        <p:spPr>
          <a:xfrm>
            <a:off x="594359" y="442399"/>
            <a:ext cx="11002976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4B5563"/>
                </a:solidFill>
              </a:defRPr>
            </a:lvl1pPr>
          </a:lstStyle>
          <a:p>
            <a:pPr/>
            <a:r>
              <a:t>Receives presentations, verifies proofs, enforces revocation; drives the web demo UI.</a:t>
            </a:r>
          </a:p>
        </p:txBody>
      </p:sp>
      <p:sp>
        <p:nvSpPr>
          <p:cNvPr id="79" name="Shape 3"/>
          <p:cNvSpPr/>
          <p:nvPr/>
        </p:nvSpPr>
        <p:spPr>
          <a:xfrm>
            <a:off x="-1" y="694944"/>
            <a:ext cx="12191697" cy="1828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Shape 4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Text 5"/>
          <p:cNvSpPr txBox="1"/>
          <p:nvPr/>
        </p:nvSpPr>
        <p:spPr>
          <a:xfrm>
            <a:off x="594359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Beyond Compliance — Privacy-First Identity Wallet</a:t>
            </a:r>
          </a:p>
        </p:txBody>
      </p:sp>
      <p:sp>
        <p:nvSpPr>
          <p:cNvPr id="82" name="Text 6"/>
          <p:cNvSpPr txBox="1"/>
          <p:nvPr/>
        </p:nvSpPr>
        <p:spPr>
          <a:xfrm>
            <a:off x="6278727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RSA Conference • Learning Lab</a:t>
            </a:r>
          </a:p>
        </p:txBody>
      </p:sp>
      <p:sp>
        <p:nvSpPr>
          <p:cNvPr id="83" name="Shape 7"/>
          <p:cNvSpPr/>
          <p:nvPr/>
        </p:nvSpPr>
        <p:spPr>
          <a:xfrm>
            <a:off x="548640" y="960119"/>
            <a:ext cx="11519799" cy="329185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8"/>
          <p:cNvSpPr txBox="1"/>
          <p:nvPr/>
        </p:nvSpPr>
        <p:spPr>
          <a:xfrm>
            <a:off x="740664" y="1009703"/>
            <a:ext cx="528523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D4ED8"/>
                </a:solidFill>
              </a:defRPr>
            </a:lvl1pPr>
          </a:lstStyle>
          <a:p>
            <a:pPr/>
            <a:r>
              <a:t>What it checks</a:t>
            </a:r>
          </a:p>
        </p:txBody>
      </p:sp>
      <p:sp>
        <p:nvSpPr>
          <p:cNvPr id="85" name="Text 9"/>
          <p:cNvSpPr txBox="1"/>
          <p:nvPr/>
        </p:nvSpPr>
        <p:spPr>
          <a:xfrm>
            <a:off x="594360" y="1399031"/>
            <a:ext cx="11532498" cy="4350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Accepts SD‑JWT presentations or BBS+ derived proofs on /verify.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Validates signatures (issuer JWKS for SD‑JWT; issuer BBS key for BBS+ proofs).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Recomputes SD‑JWT disclosure hashes and reconstructs revealed claims.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Fetches Bitstring Status List and fails verification when the status bit is set.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Caches issuer keys and status list; can route outbound fetches via OHTTP.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71788"/>
            <a:ext cx="12192000" cy="65144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-1" y="0"/>
            <a:ext cx="12191697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1"/>
          <p:cNvSpPr txBox="1"/>
          <p:nvPr/>
        </p:nvSpPr>
        <p:spPr>
          <a:xfrm>
            <a:off x="594359" y="64632"/>
            <a:ext cx="11002976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0B122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Component: OHTTP relay (network privacy)</a:t>
            </a:r>
          </a:p>
        </p:txBody>
      </p:sp>
      <p:sp>
        <p:nvSpPr>
          <p:cNvPr id="93" name="Text 2"/>
          <p:cNvSpPr txBox="1"/>
          <p:nvPr/>
        </p:nvSpPr>
        <p:spPr>
          <a:xfrm>
            <a:off x="594359" y="442399"/>
            <a:ext cx="11002976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4B5563"/>
                </a:solidFill>
              </a:defRPr>
            </a:lvl1pPr>
          </a:lstStyle>
          <a:p>
            <a:pPr/>
            <a:r>
              <a:t>Oblivious HTTP hides client identity from the origin (and origin identity from the client).</a:t>
            </a:r>
          </a:p>
        </p:txBody>
      </p:sp>
      <p:sp>
        <p:nvSpPr>
          <p:cNvPr id="94" name="Shape 3"/>
          <p:cNvSpPr/>
          <p:nvPr/>
        </p:nvSpPr>
        <p:spPr>
          <a:xfrm>
            <a:off x="-1" y="694944"/>
            <a:ext cx="12191697" cy="1828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Shape 4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 5"/>
          <p:cNvSpPr txBox="1"/>
          <p:nvPr/>
        </p:nvSpPr>
        <p:spPr>
          <a:xfrm>
            <a:off x="594359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Beyond Compliance — Privacy-First Identity Wallet</a:t>
            </a:r>
          </a:p>
        </p:txBody>
      </p:sp>
      <p:sp>
        <p:nvSpPr>
          <p:cNvPr id="97" name="Text 6"/>
          <p:cNvSpPr txBox="1"/>
          <p:nvPr/>
        </p:nvSpPr>
        <p:spPr>
          <a:xfrm>
            <a:off x="6278727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RSA Conference • Learning Lab</a:t>
            </a:r>
          </a:p>
        </p:txBody>
      </p:sp>
      <p:sp>
        <p:nvSpPr>
          <p:cNvPr id="98" name="Shape 7"/>
          <p:cNvSpPr/>
          <p:nvPr/>
        </p:nvSpPr>
        <p:spPr>
          <a:xfrm>
            <a:off x="548640" y="960119"/>
            <a:ext cx="11455248" cy="329185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8"/>
          <p:cNvSpPr txBox="1"/>
          <p:nvPr/>
        </p:nvSpPr>
        <p:spPr>
          <a:xfrm>
            <a:off x="740664" y="1009703"/>
            <a:ext cx="528523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D4ED8"/>
                </a:solidFill>
              </a:defRPr>
            </a:lvl1pPr>
          </a:lstStyle>
          <a:p>
            <a:pPr/>
            <a:r>
              <a:t>Why it matters</a:t>
            </a:r>
          </a:p>
        </p:txBody>
      </p:sp>
      <p:sp>
        <p:nvSpPr>
          <p:cNvPr id="100" name="Text 9"/>
          <p:cNvSpPr txBox="1"/>
          <p:nvPr/>
        </p:nvSpPr>
        <p:spPr>
          <a:xfrm>
            <a:off x="594360" y="1399031"/>
            <a:ext cx="11467948" cy="3868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Prevents the issuer/verifier from logging or correlating client IP addresses.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Protects “status checks” from becoming revocation tracking beacons.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Used for outbound fetches too (JWKS, BBS keys, status list) when enabled.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Typically deployed as Cloudflare Privacy Gateway or Fastly OHTTP relay.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Enabled with USE_OHTTP + OHTTP_RELAY_URL toggles across services/wallet.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47850"/>
            <a:ext cx="12192000" cy="59623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-1" y="0"/>
            <a:ext cx="12191697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1"/>
          <p:cNvSpPr txBox="1"/>
          <p:nvPr/>
        </p:nvSpPr>
        <p:spPr>
          <a:xfrm>
            <a:off x="594359" y="64632"/>
            <a:ext cx="11002976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0B122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Component: iProov liveness gate</a:t>
            </a:r>
          </a:p>
        </p:txBody>
      </p:sp>
      <p:sp>
        <p:nvSpPr>
          <p:cNvPr id="108" name="Text 2"/>
          <p:cNvSpPr txBox="1"/>
          <p:nvPr/>
        </p:nvSpPr>
        <p:spPr>
          <a:xfrm>
            <a:off x="594359" y="442399"/>
            <a:ext cx="11002976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4B5563"/>
                </a:solidFill>
              </a:defRPr>
            </a:lvl1pPr>
          </a:lstStyle>
          <a:p>
            <a:pPr/>
            <a:r>
              <a:t>A “holder is present” check before issuing or presenting sensitive attributes.</a:t>
            </a:r>
          </a:p>
        </p:txBody>
      </p:sp>
      <p:sp>
        <p:nvSpPr>
          <p:cNvPr id="109" name="Shape 3"/>
          <p:cNvSpPr/>
          <p:nvPr/>
        </p:nvSpPr>
        <p:spPr>
          <a:xfrm>
            <a:off x="-1" y="694944"/>
            <a:ext cx="12191697" cy="1828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Shape 4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5"/>
          <p:cNvSpPr txBox="1"/>
          <p:nvPr/>
        </p:nvSpPr>
        <p:spPr>
          <a:xfrm>
            <a:off x="594359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Beyond Compliance — Privacy-First Identity Wallet</a:t>
            </a:r>
          </a:p>
        </p:txBody>
      </p:sp>
      <p:sp>
        <p:nvSpPr>
          <p:cNvPr id="112" name="Text 6"/>
          <p:cNvSpPr txBox="1"/>
          <p:nvPr/>
        </p:nvSpPr>
        <p:spPr>
          <a:xfrm>
            <a:off x="6278727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RSA Conference • Learning Lab</a:t>
            </a:r>
          </a:p>
        </p:txBody>
      </p:sp>
      <p:sp>
        <p:nvSpPr>
          <p:cNvPr id="113" name="Shape 7"/>
          <p:cNvSpPr/>
          <p:nvPr/>
        </p:nvSpPr>
        <p:spPr>
          <a:xfrm>
            <a:off x="548640" y="960119"/>
            <a:ext cx="11516812" cy="329185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8"/>
          <p:cNvSpPr txBox="1"/>
          <p:nvPr/>
        </p:nvSpPr>
        <p:spPr>
          <a:xfrm>
            <a:off x="740664" y="1009703"/>
            <a:ext cx="528523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D4ED8"/>
                </a:solidFill>
              </a:defRPr>
            </a:lvl1pPr>
          </a:lstStyle>
          <a:p>
            <a:pPr/>
            <a:r>
              <a:t>How it’s used</a:t>
            </a:r>
          </a:p>
        </p:txBody>
      </p:sp>
      <p:sp>
        <p:nvSpPr>
          <p:cNvPr id="115" name="Text 9"/>
          <p:cNvSpPr txBox="1"/>
          <p:nvPr/>
        </p:nvSpPr>
        <p:spPr>
          <a:xfrm>
            <a:off x="594360" y="1399031"/>
            <a:ext cx="11529512" cy="2902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Backend mints a claim/streaming token (or URL) for the wallet.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Wallet launches the iProov SDK and completes a liveness session.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iProov posts a webhook to the backend with pass/fail signals.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Issuer/verifier enforces gating: no issuance/presentation until passed.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Store only result references/booleans (no images or biometric templates).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210862"/>
            <a:ext cx="12192000" cy="64362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-1" y="0"/>
            <a:ext cx="12191697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1"/>
          <p:cNvSpPr txBox="1"/>
          <p:nvPr/>
        </p:nvSpPr>
        <p:spPr>
          <a:xfrm>
            <a:off x="594359" y="64632"/>
            <a:ext cx="11002976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0B122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Component: Bitstring Status List (revocation)</a:t>
            </a:r>
          </a:p>
        </p:txBody>
      </p:sp>
      <p:sp>
        <p:nvSpPr>
          <p:cNvPr id="123" name="Text 2"/>
          <p:cNvSpPr txBox="1"/>
          <p:nvPr/>
        </p:nvSpPr>
        <p:spPr>
          <a:xfrm>
            <a:off x="594359" y="442399"/>
            <a:ext cx="11002976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4B5563"/>
                </a:solidFill>
              </a:defRPr>
            </a:lvl1pPr>
          </a:lstStyle>
          <a:p>
            <a:pPr/>
            <a:r>
              <a:t>Revocation checks without per-holder calls to the issuer.</a:t>
            </a:r>
          </a:p>
        </p:txBody>
      </p:sp>
      <p:sp>
        <p:nvSpPr>
          <p:cNvPr id="124" name="Shape 3"/>
          <p:cNvSpPr/>
          <p:nvPr/>
        </p:nvSpPr>
        <p:spPr>
          <a:xfrm>
            <a:off x="-1" y="694944"/>
            <a:ext cx="12191697" cy="1828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Shape 4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5"/>
          <p:cNvSpPr txBox="1"/>
          <p:nvPr/>
        </p:nvSpPr>
        <p:spPr>
          <a:xfrm>
            <a:off x="594359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Beyond Compliance — Privacy-First Identity Wallet</a:t>
            </a:r>
          </a:p>
        </p:txBody>
      </p:sp>
      <p:sp>
        <p:nvSpPr>
          <p:cNvPr id="127" name="Text 6"/>
          <p:cNvSpPr txBox="1"/>
          <p:nvPr/>
        </p:nvSpPr>
        <p:spPr>
          <a:xfrm>
            <a:off x="6278727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RSA Conference • Learning Lab</a:t>
            </a:r>
          </a:p>
        </p:txBody>
      </p:sp>
      <p:sp>
        <p:nvSpPr>
          <p:cNvPr id="128" name="Shape 7"/>
          <p:cNvSpPr/>
          <p:nvPr/>
        </p:nvSpPr>
        <p:spPr>
          <a:xfrm>
            <a:off x="548640" y="960119"/>
            <a:ext cx="11495572" cy="329185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8"/>
          <p:cNvSpPr txBox="1"/>
          <p:nvPr/>
        </p:nvSpPr>
        <p:spPr>
          <a:xfrm>
            <a:off x="740664" y="1009703"/>
            <a:ext cx="528523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D4ED8"/>
                </a:solidFill>
              </a:defRPr>
            </a:lvl1pPr>
          </a:lstStyle>
          <a:p>
            <a:pPr/>
            <a:r>
              <a:t>Pattern</a:t>
            </a:r>
          </a:p>
        </p:txBody>
      </p:sp>
      <p:sp>
        <p:nvSpPr>
          <p:cNvPr id="130" name="Text 9"/>
          <p:cNvSpPr txBox="1"/>
          <p:nvPr/>
        </p:nvSpPr>
        <p:spPr>
          <a:xfrm>
            <a:off x="594360" y="1399031"/>
            <a:ext cx="11508272" cy="2420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A base64-encoded bitstring represents revoked credentials by index.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Issuer embeds a BitstringStatusListEntry (index + list URL) in each VC.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Verifier fetches the status list (cache + TTL) and checks the bit.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Admin revoke flips a bit and persists the updated list.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Fetch via OHTTP to avoid turning revocation into a tracking beacon.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305161"/>
            <a:ext cx="12192000" cy="62476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-1" y="0"/>
            <a:ext cx="12191697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1"/>
          <p:cNvSpPr txBox="1"/>
          <p:nvPr/>
        </p:nvSpPr>
        <p:spPr>
          <a:xfrm>
            <a:off x="594359" y="64632"/>
            <a:ext cx="11002976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0B122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Component: BBS+ helper (bbs-lib)</a:t>
            </a:r>
          </a:p>
        </p:txBody>
      </p:sp>
      <p:sp>
        <p:nvSpPr>
          <p:cNvPr id="138" name="Text 2"/>
          <p:cNvSpPr txBox="1"/>
          <p:nvPr/>
        </p:nvSpPr>
        <p:spPr>
          <a:xfrm>
            <a:off x="594359" y="442399"/>
            <a:ext cx="11002976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4B5563"/>
                </a:solidFill>
              </a:defRPr>
            </a:lvl1pPr>
          </a:lstStyle>
          <a:p>
            <a:pPr/>
            <a:r>
              <a:t>Enables unlinkable selective disclosure proofs over an ordered list of messages.</a:t>
            </a:r>
          </a:p>
        </p:txBody>
      </p:sp>
      <p:sp>
        <p:nvSpPr>
          <p:cNvPr id="139" name="Shape 3"/>
          <p:cNvSpPr/>
          <p:nvPr/>
        </p:nvSpPr>
        <p:spPr>
          <a:xfrm>
            <a:off x="-1" y="694944"/>
            <a:ext cx="12191697" cy="1828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Shape 4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5"/>
          <p:cNvSpPr txBox="1"/>
          <p:nvPr/>
        </p:nvSpPr>
        <p:spPr>
          <a:xfrm>
            <a:off x="594359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Beyond Compliance — Privacy-First Identity Wallet</a:t>
            </a:r>
          </a:p>
        </p:txBody>
      </p:sp>
      <p:sp>
        <p:nvSpPr>
          <p:cNvPr id="142" name="Text 6"/>
          <p:cNvSpPr txBox="1"/>
          <p:nvPr/>
        </p:nvSpPr>
        <p:spPr>
          <a:xfrm>
            <a:off x="6278727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RSA Conference • Learning Lab</a:t>
            </a:r>
          </a:p>
        </p:txBody>
      </p:sp>
      <p:sp>
        <p:nvSpPr>
          <p:cNvPr id="143" name="Shape 7"/>
          <p:cNvSpPr/>
          <p:nvPr/>
        </p:nvSpPr>
        <p:spPr>
          <a:xfrm>
            <a:off x="548640" y="960119"/>
            <a:ext cx="11469132" cy="329185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8"/>
          <p:cNvSpPr txBox="1"/>
          <p:nvPr/>
        </p:nvSpPr>
        <p:spPr>
          <a:xfrm>
            <a:off x="740664" y="1009703"/>
            <a:ext cx="528523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D4ED8"/>
                </a:solidFill>
              </a:defRPr>
            </a:lvl1pPr>
          </a:lstStyle>
          <a:p>
            <a:pPr/>
            <a:r>
              <a:t>Core ideas</a:t>
            </a:r>
          </a:p>
        </p:txBody>
      </p:sp>
      <p:sp>
        <p:nvSpPr>
          <p:cNvPr id="145" name="Text 9"/>
          <p:cNvSpPr txBox="1"/>
          <p:nvPr/>
        </p:nvSpPr>
        <p:spPr>
          <a:xfrm>
            <a:off x="594360" y="1399031"/>
            <a:ext cx="11481831" cy="1501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79400" indent="-279400">
              <a:buSzPct val="100000"/>
              <a:buChar char="•"/>
              <a:defRPr>
                <a:solidFill>
                  <a:srgbClr val="0B1220"/>
                </a:solidFill>
              </a:defRPr>
            </a:pPr>
            <a:r>
              <a:t>Issuer signs an ordered message list (claims) with BBS+ over BLS12‑381.</a:t>
            </a:r>
          </a:p>
          <a:p>
            <a:pPr marL="279400" indent="-279400">
              <a:buSzPct val="100000"/>
              <a:buChar char="•"/>
              <a:defRPr>
                <a:solidFill>
                  <a:srgbClr val="0B1220"/>
                </a:solidFill>
              </a:defRPr>
            </a:pPr>
            <a:r>
              <a:t>Holder derives an unlinkable proof revealing only selected indices.</a:t>
            </a:r>
          </a:p>
          <a:p>
            <a:pPr marL="279400" indent="-279400">
              <a:buSzPct val="100000"/>
              <a:buChar char="•"/>
              <a:defRPr>
                <a:solidFill>
                  <a:srgbClr val="0B1220"/>
                </a:solidFill>
              </a:defRPr>
            </a:pPr>
            <a:r>
              <a:t>A per-session nonce binds the proof (prevents replay and linkability).</a:t>
            </a:r>
          </a:p>
          <a:p>
            <a:pPr marL="279400" indent="-279400">
              <a:buSzPct val="100000"/>
              <a:buChar char="•"/>
              <a:defRPr>
                <a:solidFill>
                  <a:srgbClr val="0B1220"/>
                </a:solidFill>
              </a:defRPr>
            </a:pPr>
            <a:r>
              <a:t>Verifier checks proof validity for revealed messages without learning hidden ones.</a:t>
            </a:r>
          </a:p>
          <a:p>
            <a:pPr marL="279400" indent="-279400">
              <a:buSzPct val="100000"/>
              <a:buChar char="•"/>
              <a:defRPr>
                <a:solidFill>
                  <a:srgbClr val="0B1220"/>
                </a:solidFill>
              </a:defRPr>
            </a:pPr>
            <a:r>
              <a:t>Kept as a small wrapper so participants can read the whole API surface.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82138"/>
            <a:ext cx="12192000" cy="64937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-1" y="0"/>
            <a:ext cx="12191697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Text 1"/>
          <p:cNvSpPr txBox="1"/>
          <p:nvPr/>
        </p:nvSpPr>
        <p:spPr>
          <a:xfrm>
            <a:off x="594359" y="64632"/>
            <a:ext cx="11002976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0B122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Component: Privacy-preserving telemetry (DivviUp / DAP)</a:t>
            </a:r>
          </a:p>
        </p:txBody>
      </p:sp>
      <p:sp>
        <p:nvSpPr>
          <p:cNvPr id="153" name="Text 2"/>
          <p:cNvSpPr txBox="1"/>
          <p:nvPr/>
        </p:nvSpPr>
        <p:spPr>
          <a:xfrm>
            <a:off x="594359" y="442399"/>
            <a:ext cx="11002976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4B5563"/>
                </a:solidFill>
              </a:defRPr>
            </a:lvl1pPr>
          </a:lstStyle>
          <a:p>
            <a:pPr/>
            <a:r>
              <a:t>Measure adoption and failures without collecting per-user event logs.</a:t>
            </a:r>
          </a:p>
        </p:txBody>
      </p:sp>
      <p:sp>
        <p:nvSpPr>
          <p:cNvPr id="154" name="Shape 3"/>
          <p:cNvSpPr/>
          <p:nvPr/>
        </p:nvSpPr>
        <p:spPr>
          <a:xfrm>
            <a:off x="-1" y="694944"/>
            <a:ext cx="12191697" cy="1828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Shape 4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5"/>
          <p:cNvSpPr txBox="1"/>
          <p:nvPr/>
        </p:nvSpPr>
        <p:spPr>
          <a:xfrm>
            <a:off x="594359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Beyond Compliance — Privacy-First Identity Wallet</a:t>
            </a:r>
          </a:p>
        </p:txBody>
      </p:sp>
      <p:sp>
        <p:nvSpPr>
          <p:cNvPr id="157" name="Text 6"/>
          <p:cNvSpPr txBox="1"/>
          <p:nvPr/>
        </p:nvSpPr>
        <p:spPr>
          <a:xfrm>
            <a:off x="6278727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RSA Conference • Learning Lab</a:t>
            </a:r>
          </a:p>
        </p:txBody>
      </p:sp>
      <p:sp>
        <p:nvSpPr>
          <p:cNvPr id="158" name="Shape 7"/>
          <p:cNvSpPr/>
          <p:nvPr/>
        </p:nvSpPr>
        <p:spPr>
          <a:xfrm>
            <a:off x="548640" y="960119"/>
            <a:ext cx="11506081" cy="329185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8"/>
          <p:cNvSpPr txBox="1"/>
          <p:nvPr/>
        </p:nvSpPr>
        <p:spPr>
          <a:xfrm>
            <a:off x="740664" y="1009703"/>
            <a:ext cx="528523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D4ED8"/>
                </a:solidFill>
              </a:defRPr>
            </a:lvl1pPr>
          </a:lstStyle>
          <a:p>
            <a:pPr/>
            <a:r>
              <a:t>Approach</a:t>
            </a:r>
          </a:p>
        </p:txBody>
      </p:sp>
      <p:sp>
        <p:nvSpPr>
          <p:cNvPr id="160" name="Text 9"/>
          <p:cNvSpPr txBox="1"/>
          <p:nvPr/>
        </p:nvSpPr>
        <p:spPr>
          <a:xfrm>
            <a:off x="594360" y="1399031"/>
            <a:ext cx="11518781" cy="3385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Only aggregate counters: issuance/presentation success/failure, retry counts.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In production: encrypted, batched reports to a DAP Leader/Helper (DivviUp).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In this lab repo: a stub logs counters locally to keep demos simple.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Avoids per-user identifiers and timing correlation in analytics pipelines.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Useful for “did it work?” metrics without privacy regressions.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2320636"/>
            <a:ext cx="12192000" cy="22167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-1" y="0"/>
            <a:ext cx="12191697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Text 1"/>
          <p:cNvSpPr txBox="1"/>
          <p:nvPr/>
        </p:nvSpPr>
        <p:spPr>
          <a:xfrm>
            <a:off x="594359" y="64632"/>
            <a:ext cx="11002976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0B122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Cross-cutting: phishing-resistant bindings</a:t>
            </a:r>
          </a:p>
        </p:txBody>
      </p:sp>
      <p:sp>
        <p:nvSpPr>
          <p:cNvPr id="168" name="Text 2"/>
          <p:cNvSpPr txBox="1"/>
          <p:nvPr/>
        </p:nvSpPr>
        <p:spPr>
          <a:xfrm>
            <a:off x="594359" y="442399"/>
            <a:ext cx="11002976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4B5563"/>
                </a:solidFill>
              </a:defRPr>
            </a:lvl1pPr>
          </a:lstStyle>
          <a:p>
            <a:pPr/>
            <a:r>
              <a:t>Bind tokens and presentations to the right sender and the right origin.</a:t>
            </a:r>
          </a:p>
        </p:txBody>
      </p:sp>
      <p:sp>
        <p:nvSpPr>
          <p:cNvPr id="169" name="Shape 3"/>
          <p:cNvSpPr/>
          <p:nvPr/>
        </p:nvSpPr>
        <p:spPr>
          <a:xfrm>
            <a:off x="-1" y="694944"/>
            <a:ext cx="12191697" cy="1828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Shape 4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 5"/>
          <p:cNvSpPr txBox="1"/>
          <p:nvPr/>
        </p:nvSpPr>
        <p:spPr>
          <a:xfrm>
            <a:off x="594359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Beyond Compliance — Privacy-First Identity Wallet</a:t>
            </a:r>
          </a:p>
        </p:txBody>
      </p:sp>
      <p:sp>
        <p:nvSpPr>
          <p:cNvPr id="172" name="Text 6"/>
          <p:cNvSpPr txBox="1"/>
          <p:nvPr/>
        </p:nvSpPr>
        <p:spPr>
          <a:xfrm>
            <a:off x="6278727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RSA Conference • Learning Lab</a:t>
            </a:r>
          </a:p>
        </p:txBody>
      </p:sp>
      <p:sp>
        <p:nvSpPr>
          <p:cNvPr id="173" name="Shape 7"/>
          <p:cNvSpPr/>
          <p:nvPr/>
        </p:nvSpPr>
        <p:spPr>
          <a:xfrm>
            <a:off x="548640" y="960119"/>
            <a:ext cx="11534844" cy="329185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8"/>
          <p:cNvSpPr txBox="1"/>
          <p:nvPr/>
        </p:nvSpPr>
        <p:spPr>
          <a:xfrm>
            <a:off x="740664" y="1009703"/>
            <a:ext cx="528523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D4ED8"/>
                </a:solidFill>
              </a:defRPr>
            </a:lvl1pPr>
          </a:lstStyle>
          <a:p>
            <a:pPr/>
            <a:r>
              <a:t>Bindings to consider</a:t>
            </a:r>
          </a:p>
        </p:txBody>
      </p:sp>
      <p:sp>
        <p:nvSpPr>
          <p:cNvPr id="175" name="Text 9"/>
          <p:cNvSpPr txBox="1"/>
          <p:nvPr/>
        </p:nvSpPr>
        <p:spPr>
          <a:xfrm>
            <a:off x="594360" y="1399031"/>
            <a:ext cx="11547545" cy="3868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Nonce + audience binding in proof material (prevents replay across contexts).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DPoP sender-constrained tokens for token exchange and verification APIs.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Optional WebAuthn step at the verifier origin before accepting a presentation.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Pairwise/ephemeral subject identifiers to reduce correlation surface.</a:t>
            </a:r>
          </a:p>
          <a:p>
            <a:pPr marL="279400" indent="-279400">
              <a:buSzPct val="100000"/>
              <a:buChar char="•"/>
              <a:defRPr sz="3000">
                <a:solidFill>
                  <a:srgbClr val="0B1220"/>
                </a:solidFill>
              </a:defRPr>
            </a:pPr>
            <a:r>
              <a:t>Consent receipts and minimal disclosure as default UX posture.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89597"/>
            <a:ext cx="12192000" cy="64788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-1" y="0"/>
            <a:ext cx="12191697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1"/>
          <p:cNvSpPr txBox="1"/>
          <p:nvPr/>
        </p:nvSpPr>
        <p:spPr>
          <a:xfrm>
            <a:off x="594359" y="64632"/>
            <a:ext cx="11002976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600">
                <a:solidFill>
                  <a:srgbClr val="0B122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How the labs build the architecture</a:t>
            </a:r>
          </a:p>
        </p:txBody>
      </p:sp>
      <p:sp>
        <p:nvSpPr>
          <p:cNvPr id="183" name="Text 2"/>
          <p:cNvSpPr txBox="1"/>
          <p:nvPr/>
        </p:nvSpPr>
        <p:spPr>
          <a:xfrm>
            <a:off x="594359" y="442399"/>
            <a:ext cx="11002976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4B5563"/>
                </a:solidFill>
              </a:defRPr>
            </a:lvl1pPr>
          </a:lstStyle>
          <a:p>
            <a:pPr/>
            <a:r>
              <a:t>Each lab adds one capability; the full demo is the sum of the parts.</a:t>
            </a:r>
          </a:p>
        </p:txBody>
      </p:sp>
      <p:sp>
        <p:nvSpPr>
          <p:cNvPr id="184" name="Shape 3"/>
          <p:cNvSpPr/>
          <p:nvPr/>
        </p:nvSpPr>
        <p:spPr>
          <a:xfrm>
            <a:off x="-1" y="694944"/>
            <a:ext cx="12191697" cy="1828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Shape 4"/>
          <p:cNvSpPr/>
          <p:nvPr/>
        </p:nvSpPr>
        <p:spPr>
          <a:xfrm>
            <a:off x="-1" y="6446520"/>
            <a:ext cx="12191697" cy="41148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5"/>
          <p:cNvSpPr txBox="1"/>
          <p:nvPr/>
        </p:nvSpPr>
        <p:spPr>
          <a:xfrm>
            <a:off x="594359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Beyond Compliance — Privacy-First Identity Wallet</a:t>
            </a:r>
          </a:p>
        </p:txBody>
      </p:sp>
      <p:sp>
        <p:nvSpPr>
          <p:cNvPr id="187" name="Text 6"/>
          <p:cNvSpPr txBox="1"/>
          <p:nvPr/>
        </p:nvSpPr>
        <p:spPr>
          <a:xfrm>
            <a:off x="6278727" y="6557693"/>
            <a:ext cx="5318609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1100">
                <a:solidFill>
                  <a:srgbClr val="4B5563"/>
                </a:solidFill>
              </a:defRPr>
            </a:lvl1pPr>
          </a:lstStyle>
          <a:p>
            <a:pPr/>
            <a:r>
              <a:t>RSA Conference • Learning Lab</a:t>
            </a:r>
          </a:p>
        </p:txBody>
      </p:sp>
      <p:sp>
        <p:nvSpPr>
          <p:cNvPr id="188" name="Shape 7"/>
          <p:cNvSpPr/>
          <p:nvPr/>
        </p:nvSpPr>
        <p:spPr>
          <a:xfrm>
            <a:off x="548640" y="960119"/>
            <a:ext cx="11524445" cy="329185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8"/>
          <p:cNvSpPr txBox="1"/>
          <p:nvPr/>
        </p:nvSpPr>
        <p:spPr>
          <a:xfrm>
            <a:off x="740664" y="1009703"/>
            <a:ext cx="528523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D4ED8"/>
                </a:solidFill>
              </a:defRPr>
            </a:lvl1pPr>
          </a:lstStyle>
          <a:p>
            <a:pPr/>
            <a:r>
              <a:t>Lab progression</a:t>
            </a:r>
          </a:p>
        </p:txBody>
      </p:sp>
      <p:sp>
        <p:nvSpPr>
          <p:cNvPr id="190" name="Shape 9"/>
          <p:cNvSpPr/>
          <p:nvPr/>
        </p:nvSpPr>
        <p:spPr>
          <a:xfrm>
            <a:off x="548640" y="1403450"/>
            <a:ext cx="11524445" cy="491032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Shape 10"/>
          <p:cNvSpPr/>
          <p:nvPr/>
        </p:nvSpPr>
        <p:spPr>
          <a:xfrm>
            <a:off x="777240" y="1527047"/>
            <a:ext cx="1051561" cy="457201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11"/>
          <p:cNvSpPr txBox="1"/>
          <p:nvPr/>
        </p:nvSpPr>
        <p:spPr>
          <a:xfrm>
            <a:off x="822959" y="1615248"/>
            <a:ext cx="96012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D4ED8"/>
                </a:solidFill>
              </a:defRPr>
            </a:lvl1pPr>
          </a:lstStyle>
          <a:p>
            <a:pPr/>
            <a:r>
              <a:t>Lab 00</a:t>
            </a:r>
          </a:p>
        </p:txBody>
      </p:sp>
      <p:sp>
        <p:nvSpPr>
          <p:cNvPr id="193" name="Text 12"/>
          <p:cNvSpPr txBox="1"/>
          <p:nvPr/>
        </p:nvSpPr>
        <p:spPr>
          <a:xfrm>
            <a:off x="2057399" y="1400944"/>
            <a:ext cx="4884003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0B1220"/>
                </a:solidFill>
              </a:defRPr>
            </a:lvl1pPr>
          </a:lstStyle>
          <a:p>
            <a:pPr/>
            <a:r>
              <a:t>Scaffolding + health checks</a:t>
            </a:r>
          </a:p>
        </p:txBody>
      </p:sp>
      <p:sp>
        <p:nvSpPr>
          <p:cNvPr id="194" name="Text 13"/>
          <p:cNvSpPr txBox="1"/>
          <p:nvPr/>
        </p:nvSpPr>
        <p:spPr>
          <a:xfrm>
            <a:off x="2057399" y="1773009"/>
            <a:ext cx="5556838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4B5563"/>
                </a:solidFill>
              </a:defRPr>
            </a:lvl1pPr>
          </a:lstStyle>
          <a:p>
            <a:pPr/>
            <a:r>
              <a:t>Boot issuer/verifier; review annotated code paths.</a:t>
            </a:r>
          </a:p>
        </p:txBody>
      </p:sp>
      <p:sp>
        <p:nvSpPr>
          <p:cNvPr id="195" name="Shape 14"/>
          <p:cNvSpPr/>
          <p:nvPr/>
        </p:nvSpPr>
        <p:spPr>
          <a:xfrm>
            <a:off x="777240" y="2112264"/>
            <a:ext cx="5212080" cy="1"/>
          </a:xfrm>
          <a:prstGeom prst="line">
            <a:avLst/>
          </a:prstGeom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Shape 15"/>
          <p:cNvSpPr/>
          <p:nvPr/>
        </p:nvSpPr>
        <p:spPr>
          <a:xfrm>
            <a:off x="777240" y="2203704"/>
            <a:ext cx="1051561" cy="457201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16"/>
          <p:cNvSpPr txBox="1"/>
          <p:nvPr/>
        </p:nvSpPr>
        <p:spPr>
          <a:xfrm>
            <a:off x="822959" y="2291904"/>
            <a:ext cx="96012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D4ED8"/>
                </a:solidFill>
              </a:defRPr>
            </a:lvl1pPr>
          </a:lstStyle>
          <a:p>
            <a:pPr/>
            <a:r>
              <a:t>Lab 01</a:t>
            </a:r>
          </a:p>
        </p:txBody>
      </p:sp>
      <p:sp>
        <p:nvSpPr>
          <p:cNvPr id="198" name="Text 17"/>
          <p:cNvSpPr txBox="1"/>
          <p:nvPr/>
        </p:nvSpPr>
        <p:spPr>
          <a:xfrm>
            <a:off x="2057399" y="2077600"/>
            <a:ext cx="5318610" cy="489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0B1220"/>
                </a:solidFill>
              </a:defRPr>
            </a:lvl1pPr>
          </a:lstStyle>
          <a:p>
            <a:pPr/>
            <a:r>
              <a:t>SD‑JWT issuance (OIDC4VCI)</a:t>
            </a:r>
          </a:p>
        </p:txBody>
      </p:sp>
      <p:sp>
        <p:nvSpPr>
          <p:cNvPr id="199" name="Text 18"/>
          <p:cNvSpPr txBox="1"/>
          <p:nvPr/>
        </p:nvSpPr>
        <p:spPr>
          <a:xfrm>
            <a:off x="2057399" y="2449665"/>
            <a:ext cx="6337810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4B5563"/>
                </a:solidFill>
              </a:defRPr>
            </a:lvl1pPr>
          </a:lstStyle>
          <a:p>
            <a:pPr/>
            <a:r>
              <a:t>Offer → token (c_nonce) → credential; verify SD‑JWT.</a:t>
            </a:r>
          </a:p>
        </p:txBody>
      </p:sp>
      <p:sp>
        <p:nvSpPr>
          <p:cNvPr id="200" name="Shape 19"/>
          <p:cNvSpPr/>
          <p:nvPr/>
        </p:nvSpPr>
        <p:spPr>
          <a:xfrm>
            <a:off x="777240" y="2788920"/>
            <a:ext cx="5212080" cy="1"/>
          </a:xfrm>
          <a:prstGeom prst="line">
            <a:avLst/>
          </a:prstGeom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Shape 20"/>
          <p:cNvSpPr/>
          <p:nvPr/>
        </p:nvSpPr>
        <p:spPr>
          <a:xfrm>
            <a:off x="777240" y="2880360"/>
            <a:ext cx="1051561" cy="457201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21"/>
          <p:cNvSpPr txBox="1"/>
          <p:nvPr/>
        </p:nvSpPr>
        <p:spPr>
          <a:xfrm>
            <a:off x="822959" y="2968560"/>
            <a:ext cx="96012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D4ED8"/>
                </a:solidFill>
              </a:defRPr>
            </a:lvl1pPr>
          </a:lstStyle>
          <a:p>
            <a:pPr/>
            <a:r>
              <a:t>Lab 02</a:t>
            </a:r>
          </a:p>
        </p:txBody>
      </p:sp>
      <p:sp>
        <p:nvSpPr>
          <p:cNvPr id="203" name="Text 22"/>
          <p:cNvSpPr txBox="1"/>
          <p:nvPr/>
        </p:nvSpPr>
        <p:spPr>
          <a:xfrm>
            <a:off x="2057399" y="2754255"/>
            <a:ext cx="6048852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0B1220"/>
                </a:solidFill>
              </a:defRPr>
            </a:lvl1pPr>
          </a:lstStyle>
          <a:p>
            <a:pPr/>
            <a:r>
              <a:t>BBS+ selective disclosure</a:t>
            </a:r>
          </a:p>
        </p:txBody>
      </p:sp>
      <p:sp>
        <p:nvSpPr>
          <p:cNvPr id="204" name="Text 23"/>
          <p:cNvSpPr txBox="1"/>
          <p:nvPr/>
        </p:nvSpPr>
        <p:spPr>
          <a:xfrm>
            <a:off x="2057399" y="3126321"/>
            <a:ext cx="586261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4B5563"/>
                </a:solidFill>
              </a:defRPr>
            </a:lvl1pPr>
          </a:lstStyle>
          <a:p>
            <a:pPr/>
            <a:r>
              <a:t>Issue DI+BBS+ and verify unlinkable derived proofs.</a:t>
            </a:r>
          </a:p>
        </p:txBody>
      </p:sp>
      <p:sp>
        <p:nvSpPr>
          <p:cNvPr id="205" name="Shape 24"/>
          <p:cNvSpPr/>
          <p:nvPr/>
        </p:nvSpPr>
        <p:spPr>
          <a:xfrm>
            <a:off x="777240" y="3465576"/>
            <a:ext cx="5212080" cy="1"/>
          </a:xfrm>
          <a:prstGeom prst="line">
            <a:avLst/>
          </a:prstGeom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Shape 25"/>
          <p:cNvSpPr/>
          <p:nvPr/>
        </p:nvSpPr>
        <p:spPr>
          <a:xfrm>
            <a:off x="777240" y="3557015"/>
            <a:ext cx="1051561" cy="457201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26"/>
          <p:cNvSpPr txBox="1"/>
          <p:nvPr/>
        </p:nvSpPr>
        <p:spPr>
          <a:xfrm>
            <a:off x="822959" y="3645216"/>
            <a:ext cx="96012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D4ED8"/>
                </a:solidFill>
              </a:defRPr>
            </a:lvl1pPr>
          </a:lstStyle>
          <a:p>
            <a:pPr/>
            <a:r>
              <a:t>Lab 03</a:t>
            </a:r>
          </a:p>
        </p:txBody>
      </p:sp>
      <p:sp>
        <p:nvSpPr>
          <p:cNvPr id="208" name="Text 27"/>
          <p:cNvSpPr txBox="1"/>
          <p:nvPr/>
        </p:nvSpPr>
        <p:spPr>
          <a:xfrm>
            <a:off x="2057399" y="3430911"/>
            <a:ext cx="3886201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0B1220"/>
                </a:solidFill>
              </a:defRPr>
            </a:lvl1pPr>
          </a:lstStyle>
          <a:p>
            <a:pPr/>
            <a:r>
              <a:t>OHTTP relay</a:t>
            </a:r>
          </a:p>
        </p:txBody>
      </p:sp>
      <p:sp>
        <p:nvSpPr>
          <p:cNvPr id="209" name="Text 28"/>
          <p:cNvSpPr txBox="1"/>
          <p:nvPr/>
        </p:nvSpPr>
        <p:spPr>
          <a:xfrm>
            <a:off x="2057399" y="3802977"/>
            <a:ext cx="6337810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4B5563"/>
                </a:solidFill>
              </a:defRPr>
            </a:lvl1pPr>
          </a:lstStyle>
          <a:p>
            <a:pPr/>
            <a:r>
              <a:t>Route outbound calls through relay; observe IP masking.</a:t>
            </a:r>
          </a:p>
        </p:txBody>
      </p:sp>
      <p:sp>
        <p:nvSpPr>
          <p:cNvPr id="210" name="Shape 29"/>
          <p:cNvSpPr/>
          <p:nvPr/>
        </p:nvSpPr>
        <p:spPr>
          <a:xfrm>
            <a:off x="777240" y="4142232"/>
            <a:ext cx="5212080" cy="1"/>
          </a:xfrm>
          <a:prstGeom prst="line">
            <a:avLst/>
          </a:prstGeom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Shape 30"/>
          <p:cNvSpPr/>
          <p:nvPr/>
        </p:nvSpPr>
        <p:spPr>
          <a:xfrm>
            <a:off x="777240" y="4233671"/>
            <a:ext cx="1051561" cy="457201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Text 31"/>
          <p:cNvSpPr txBox="1"/>
          <p:nvPr/>
        </p:nvSpPr>
        <p:spPr>
          <a:xfrm>
            <a:off x="822959" y="4321872"/>
            <a:ext cx="96012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D4ED8"/>
                </a:solidFill>
              </a:defRPr>
            </a:lvl1pPr>
          </a:lstStyle>
          <a:p>
            <a:pPr/>
            <a:r>
              <a:t>Lab 04</a:t>
            </a:r>
          </a:p>
        </p:txBody>
      </p:sp>
      <p:sp>
        <p:nvSpPr>
          <p:cNvPr id="213" name="Text 32"/>
          <p:cNvSpPr txBox="1"/>
          <p:nvPr/>
        </p:nvSpPr>
        <p:spPr>
          <a:xfrm>
            <a:off x="2057399" y="4107567"/>
            <a:ext cx="3886201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0B1220"/>
                </a:solidFill>
              </a:defRPr>
            </a:lvl1pPr>
          </a:lstStyle>
          <a:p>
            <a:pPr/>
            <a:r>
              <a:t>iProov liveness gate</a:t>
            </a:r>
          </a:p>
        </p:txBody>
      </p:sp>
      <p:sp>
        <p:nvSpPr>
          <p:cNvPr id="214" name="Text 33"/>
          <p:cNvSpPr txBox="1"/>
          <p:nvPr/>
        </p:nvSpPr>
        <p:spPr>
          <a:xfrm>
            <a:off x="2057399" y="4479633"/>
            <a:ext cx="6337810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4B5563"/>
                </a:solidFill>
              </a:defRPr>
            </a:lvl1pPr>
          </a:lstStyle>
          <a:p>
            <a:pPr/>
            <a:r>
              <a:t>Gate issuance/presentation on webhook-backed liveness.</a:t>
            </a:r>
          </a:p>
        </p:txBody>
      </p:sp>
      <p:sp>
        <p:nvSpPr>
          <p:cNvPr id="215" name="Shape 34"/>
          <p:cNvSpPr/>
          <p:nvPr/>
        </p:nvSpPr>
        <p:spPr>
          <a:xfrm>
            <a:off x="777240" y="4818888"/>
            <a:ext cx="5212080" cy="1"/>
          </a:xfrm>
          <a:prstGeom prst="line">
            <a:avLst/>
          </a:prstGeom>
          <a:ln w="12700">
            <a:solidFill>
              <a:srgbClr val="E5E7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Shape 35"/>
          <p:cNvSpPr/>
          <p:nvPr/>
        </p:nvSpPr>
        <p:spPr>
          <a:xfrm>
            <a:off x="777240" y="4910328"/>
            <a:ext cx="1051561" cy="457201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36"/>
          <p:cNvSpPr txBox="1"/>
          <p:nvPr/>
        </p:nvSpPr>
        <p:spPr>
          <a:xfrm>
            <a:off x="822959" y="4998528"/>
            <a:ext cx="96012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1D4ED8"/>
                </a:solidFill>
              </a:defRPr>
            </a:lvl1pPr>
          </a:lstStyle>
          <a:p>
            <a:pPr/>
            <a:r>
              <a:t>Lab 05</a:t>
            </a:r>
          </a:p>
        </p:txBody>
      </p:sp>
      <p:sp>
        <p:nvSpPr>
          <p:cNvPr id="218" name="Text 37"/>
          <p:cNvSpPr txBox="1"/>
          <p:nvPr/>
        </p:nvSpPr>
        <p:spPr>
          <a:xfrm>
            <a:off x="2057399" y="4784223"/>
            <a:ext cx="5212081" cy="489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000">
                <a:solidFill>
                  <a:srgbClr val="0B1220"/>
                </a:solidFill>
              </a:defRPr>
            </a:lvl1pPr>
          </a:lstStyle>
          <a:p>
            <a:pPr/>
            <a:r>
              <a:t>Revocation via status list</a:t>
            </a:r>
          </a:p>
        </p:txBody>
      </p:sp>
      <p:sp>
        <p:nvSpPr>
          <p:cNvPr id="219" name="Text 38"/>
          <p:cNvSpPr txBox="1"/>
          <p:nvPr/>
        </p:nvSpPr>
        <p:spPr>
          <a:xfrm>
            <a:off x="2057399" y="5156289"/>
            <a:ext cx="6743757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000">
                <a:solidFill>
                  <a:srgbClr val="4B5563"/>
                </a:solidFill>
              </a:defRPr>
            </a:lvl1pPr>
          </a:lstStyle>
          <a:p>
            <a:pPr/>
            <a:r>
              <a:t>Embed credentialStatus; enforce bit checks; flip bits to revoke.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2814338"/>
            <a:ext cx="12192000" cy="12293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